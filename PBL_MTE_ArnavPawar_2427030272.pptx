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22" r:id="rId1"/>
  </p:sldMasterIdLst>
  <p:notesMasterIdLst>
    <p:notesMasterId r:id="rId21"/>
  </p:notesMasterIdLst>
  <p:sldIdLst>
    <p:sldId id="256" r:id="rId2"/>
    <p:sldId id="266" r:id="rId3"/>
    <p:sldId id="257" r:id="rId4"/>
    <p:sldId id="259" r:id="rId5"/>
    <p:sldId id="258" r:id="rId6"/>
    <p:sldId id="267" r:id="rId7"/>
    <p:sldId id="260" r:id="rId8"/>
    <p:sldId id="268" r:id="rId9"/>
    <p:sldId id="265" r:id="rId10"/>
    <p:sldId id="269" r:id="rId11"/>
    <p:sldId id="261" r:id="rId12"/>
    <p:sldId id="270" r:id="rId13"/>
    <p:sldId id="271" r:id="rId14"/>
    <p:sldId id="272" r:id="rId15"/>
    <p:sldId id="273" r:id="rId16"/>
    <p:sldId id="274" r:id="rId17"/>
    <p:sldId id="262" r:id="rId18"/>
    <p:sldId id="263" r:id="rId19"/>
    <p:sldId id="264" r:id="rId20"/>
  </p:sldIdLst>
  <p:sldSz cx="14630400" cy="8229600"/>
  <p:notesSz cx="8229600" cy="14630400"/>
  <p:embeddedFontLst>
    <p:embeddedFont>
      <p:font typeface="Arial Black" panose="020B0A04020102020204" pitchFamily="34" charset="0"/>
      <p:bold r:id="rId22"/>
    </p:embeddedFont>
    <p:embeddedFont>
      <p:font typeface="Arial Rounded MT Bold" panose="020F0704030504030204" pitchFamily="34" charset="0"/>
      <p:regular r:id="rId23"/>
    </p:embeddedFont>
    <p:embeddedFont>
      <p:font typeface="Century Gothic" panose="020B0502020202020204" pitchFamily="34" charset="0"/>
      <p:regular r:id="rId24"/>
      <p:bold r:id="rId25"/>
      <p:italic r:id="rId26"/>
      <p:boldItalic r:id="rId27"/>
    </p:embeddedFont>
    <p:embeddedFont>
      <p:font typeface="Franklin Gothic Demi" panose="020B0703020102020204" pitchFamily="34" charset="0"/>
      <p:regular r:id="rId28"/>
      <p:italic r:id="rId29"/>
    </p:embeddedFont>
    <p:embeddedFont>
      <p:font typeface="Geist" panose="020B0604020202020204" charset="0"/>
      <p:regular r:id="rId30"/>
    </p:embeddedFont>
    <p:embeddedFont>
      <p:font typeface="Wingdings 3" panose="05040102010807070707" pitchFamily="18" charset="2"/>
      <p:regular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6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849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7056" y="3017521"/>
            <a:ext cx="10698479" cy="2715337"/>
          </a:xfrm>
        </p:spPr>
        <p:txBody>
          <a:bodyPr anchor="b">
            <a:normAutofit/>
          </a:bodyPr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7056" y="5732855"/>
            <a:ext cx="10698479" cy="1351540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5188573"/>
            <a:ext cx="2093582" cy="934307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5435449"/>
            <a:ext cx="93572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8050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1511" y="748932"/>
            <a:ext cx="10694024" cy="1537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7054" y="2560320"/>
            <a:ext cx="10698480" cy="45331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31271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2470500"/>
            <a:ext cx="10698479" cy="1762560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4236155"/>
            <a:ext cx="10698479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22A4-8DA6-4447-9B1F-C5DB58435268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41585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07054" y="2560320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28896" y="2551467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01862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248" y="2367244"/>
            <a:ext cx="479127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07055" y="3058759"/>
            <a:ext cx="5211472" cy="40248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07956" y="2363370"/>
            <a:ext cx="479880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600348" y="3054886"/>
            <a:ext cx="5206409" cy="40248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5018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9554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63353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535306"/>
            <a:ext cx="4206239" cy="1171574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7614" y="535306"/>
            <a:ext cx="6217920" cy="6497956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5" y="1918336"/>
            <a:ext cx="4206239" cy="5114923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29989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5760720"/>
            <a:ext cx="1069848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7054" y="761958"/>
            <a:ext cx="10698480" cy="4625964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440806"/>
            <a:ext cx="10698480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17644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31520"/>
            <a:ext cx="10698479" cy="3740448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09831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930014" y="4206240"/>
            <a:ext cx="9043865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29219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2926081"/>
            <a:ext cx="10698480" cy="3269814"/>
          </a:xfrm>
        </p:spPr>
        <p:txBody>
          <a:bodyPr anchor="b">
            <a:normAutofit/>
          </a:bodyPr>
          <a:lstStyle>
            <a:lvl1pPr algn="l">
              <a:defRPr sz="57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03165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548479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52888"/>
            <a:ext cx="10698479" cy="3456024"/>
          </a:xfrm>
        </p:spPr>
        <p:txBody>
          <a:bodyPr anchor="ctr">
            <a:normAutofit/>
          </a:bodyPr>
          <a:lstStyle>
            <a:lvl1pPr algn="l">
              <a:defRPr sz="57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51286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14518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53775" y="752887"/>
            <a:ext cx="2649121" cy="6340580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07054" y="752887"/>
            <a:ext cx="7772400" cy="63405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03898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617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42918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36204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9344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2000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14769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9102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68925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8515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74320"/>
            <a:ext cx="3421819" cy="7966354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32665" y="-943"/>
            <a:ext cx="2828009" cy="8224847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219456" cy="82296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1510" y="748932"/>
            <a:ext cx="10694024" cy="1537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4" y="2560320"/>
            <a:ext cx="10698480" cy="4663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33935" y="7356525"/>
            <a:ext cx="1375540" cy="4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7055" y="7362970"/>
            <a:ext cx="914399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638175" y="945339"/>
            <a:ext cx="9357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FE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50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ho.int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5" Type="http://schemas.openxmlformats.org/officeDocument/2006/relationships/hyperlink" Target="https://ada.com/" TargetMode="External"/><Relationship Id="rId4" Type="http://schemas.openxmlformats.org/officeDocument/2006/relationships/hyperlink" Target="https://www.webmd.com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pic>
        <p:nvPicPr>
          <p:cNvPr id="4" name="Picture 3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433" y="482435"/>
            <a:ext cx="4174039" cy="12227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FC6718-15CC-F277-D20B-AFBF65D2895D}"/>
              </a:ext>
            </a:extLst>
          </p:cNvPr>
          <p:cNvSpPr txBox="1"/>
          <p:nvPr/>
        </p:nvSpPr>
        <p:spPr>
          <a:xfrm>
            <a:off x="3044142" y="1862426"/>
            <a:ext cx="8542116" cy="1128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/>
              <a:t>School of Computer Science and Engineering</a:t>
            </a:r>
          </a:p>
          <a:p>
            <a:pPr algn="ctr">
              <a:lnSpc>
                <a:spcPct val="150000"/>
              </a:lnSpc>
            </a:pPr>
            <a:r>
              <a:rPr lang="en-IN" sz="2400" b="1" dirty="0"/>
              <a:t>Department of Computer Science and Engineering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B15B69-5C5F-10BC-FEE6-A9FE0254416D}"/>
              </a:ext>
            </a:extLst>
          </p:cNvPr>
          <p:cNvSpPr txBox="1"/>
          <p:nvPr/>
        </p:nvSpPr>
        <p:spPr>
          <a:xfrm>
            <a:off x="1747777" y="5739471"/>
            <a:ext cx="238438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Submitted By : </a:t>
            </a:r>
            <a:r>
              <a:rPr lang="en-IN" sz="2400" dirty="0"/>
              <a:t>Arnav Pawar</a:t>
            </a:r>
          </a:p>
          <a:p>
            <a:pPr algn="ctr"/>
            <a:r>
              <a:rPr lang="en-IN" sz="2400" dirty="0"/>
              <a:t>2427030272</a:t>
            </a:r>
          </a:p>
          <a:p>
            <a:pPr algn="ctr"/>
            <a:r>
              <a:rPr lang="en-IN" sz="2400" dirty="0"/>
              <a:t>Section 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C2E321-A363-E38C-296A-A71DBF71C07A}"/>
              </a:ext>
            </a:extLst>
          </p:cNvPr>
          <p:cNvSpPr txBox="1"/>
          <p:nvPr/>
        </p:nvSpPr>
        <p:spPr>
          <a:xfrm>
            <a:off x="9537539" y="5739471"/>
            <a:ext cx="35302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Supervised By :</a:t>
            </a:r>
            <a:br>
              <a:rPr lang="en-IN" sz="2400" dirty="0"/>
            </a:br>
            <a:r>
              <a:rPr lang="en-IN" sz="2400" dirty="0"/>
              <a:t>Dr. Susheela </a:t>
            </a:r>
            <a:r>
              <a:rPr lang="en-IN" sz="2400" dirty="0" err="1"/>
              <a:t>Vishnoi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C94C3E-B42B-23BE-E2C4-F0AC0F865C4A}"/>
              </a:ext>
            </a:extLst>
          </p:cNvPr>
          <p:cNvSpPr txBox="1"/>
          <p:nvPr/>
        </p:nvSpPr>
        <p:spPr>
          <a:xfrm>
            <a:off x="5932025" y="3781808"/>
            <a:ext cx="27663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latin typeface="Franklin Gothic Demi" panose="020B0703020102020204" pitchFamily="34" charset="0"/>
              </a:rPr>
              <a:t>Cura AI</a:t>
            </a:r>
          </a:p>
        </p:txBody>
      </p:sp>
      <p:pic>
        <p:nvPicPr>
          <p:cNvPr id="7" name="Graphic 6" descr="DNA with solid fill">
            <a:extLst>
              <a:ext uri="{FF2B5EF4-FFF2-40B4-BE49-F238E27FC236}">
                <a16:creationId xmlns:a16="http://schemas.microsoft.com/office/drawing/2014/main" id="{6425A768-6B58-84BC-6E5F-4EE884438B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905302">
            <a:off x="5363735" y="3775393"/>
            <a:ext cx="9144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3F4D25-6221-061A-57AD-5E7951BA8AA3}"/>
              </a:ext>
            </a:extLst>
          </p:cNvPr>
          <p:cNvSpPr/>
          <p:nvPr/>
        </p:nvSpPr>
        <p:spPr>
          <a:xfrm>
            <a:off x="1694985" y="1902045"/>
            <a:ext cx="4438186" cy="5199974"/>
          </a:xfrm>
          <a:prstGeom prst="roundRect">
            <a:avLst/>
          </a:prstGeom>
          <a:solidFill>
            <a:schemeClr val="lt1">
              <a:alpha val="3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49FD47-1A0E-5639-1C73-AF2B4CB43A02}"/>
              </a:ext>
            </a:extLst>
          </p:cNvPr>
          <p:cNvSpPr txBox="1"/>
          <p:nvPr/>
        </p:nvSpPr>
        <p:spPr>
          <a:xfrm>
            <a:off x="2165364" y="892393"/>
            <a:ext cx="159056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48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Index</a:t>
            </a:r>
            <a:endParaRPr lang="en-US" sz="4800" dirty="0"/>
          </a:p>
          <a:p>
            <a:pPr algn="r"/>
            <a:endParaRPr lang="en-IN" sz="4800" dirty="0">
              <a:latin typeface="Noto Serif SC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43FAF5-73AD-727F-CF5F-04C3768C5282}"/>
              </a:ext>
            </a:extLst>
          </p:cNvPr>
          <p:cNvSpPr txBox="1"/>
          <p:nvPr/>
        </p:nvSpPr>
        <p:spPr>
          <a:xfrm>
            <a:off x="2165364" y="2201330"/>
            <a:ext cx="3661580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Comparative Study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Literature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Proposed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Proposed Tech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Project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Current Progress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Frontend Screenshots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Future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References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2556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C713854-ACA1-5304-4DB0-0038E6085A45}"/>
              </a:ext>
            </a:extLst>
          </p:cNvPr>
          <p:cNvSpPr/>
          <p:nvPr/>
        </p:nvSpPr>
        <p:spPr>
          <a:xfrm>
            <a:off x="1155938" y="2285718"/>
            <a:ext cx="12318523" cy="4583434"/>
          </a:xfrm>
          <a:prstGeom prst="roundRect">
            <a:avLst/>
          </a:prstGeom>
          <a:solidFill>
            <a:schemeClr val="lt1">
              <a:alpha val="3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1902857" y="1209015"/>
            <a:ext cx="127275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1960498" y="2821069"/>
            <a:ext cx="11324392" cy="3934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medical chatbot is an AI-based virtual assistant that engages users in natural language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conversations about their health-related questions. It operates 24/7 and provides accurate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and safe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Healthcare is a vital part of society, and with growing digitization, people increasingly turn to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the internet for medical guidance. However, online information is often unreliable, overly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complex, or misleading, which can confuse patients and lead to poor decisions.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Another major issue is that patients often cannot recall key symptom details—such as when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they started, how long they lasted, or their severity. This memory gap can hinder accurate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diagnosis and waste valuable consultation time.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5B9CA3-D092-37B2-F533-E223D49CB44B}"/>
              </a:ext>
            </a:extLst>
          </p:cNvPr>
          <p:cNvSpPr/>
          <p:nvPr/>
        </p:nvSpPr>
        <p:spPr>
          <a:xfrm>
            <a:off x="959005" y="1708486"/>
            <a:ext cx="11920654" cy="5798975"/>
          </a:xfrm>
          <a:prstGeom prst="roundRect">
            <a:avLst/>
          </a:prstGeom>
          <a:solidFill>
            <a:schemeClr val="lt1">
              <a:alpha val="3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1349298" y="6540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28992" y="1801084"/>
            <a:ext cx="125749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A5157D-6A8D-EF6B-4105-5CA0CE884FB1}"/>
              </a:ext>
            </a:extLst>
          </p:cNvPr>
          <p:cNvSpPr txBox="1"/>
          <p:nvPr/>
        </p:nvSpPr>
        <p:spPr>
          <a:xfrm>
            <a:off x="1349298" y="2175591"/>
            <a:ext cx="1153036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Finding dependable health information online is often an overwhelming battle against myths and unverified claims, which creates significant anxiety for individuals.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During a doctor's visit, patients struggle to recall precise symptom details like intensity or timing, leading to frustrating and inefficient consultations.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After an appointment, patients may receive reports filled with complex medical terms, leaving them feeling isolated and powerless in their healthcare journey.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persistent gap between needing and understanding health information undermines patient confidence and creates a significant barrier to achieving better health.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31B519-D1E0-7CD5-1530-C9647BDE7584}"/>
              </a:ext>
            </a:extLst>
          </p:cNvPr>
          <p:cNvSpPr/>
          <p:nvPr/>
        </p:nvSpPr>
        <p:spPr>
          <a:xfrm>
            <a:off x="601884" y="2620538"/>
            <a:ext cx="13404048" cy="3931458"/>
          </a:xfrm>
          <a:prstGeom prst="roundRect">
            <a:avLst/>
          </a:prstGeom>
          <a:solidFill>
            <a:schemeClr val="lt1">
              <a:alpha val="3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1005663" y="16402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Literature Review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005663" y="291596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Existing Systems: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03249" y="3568071"/>
            <a:ext cx="68057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4B4A4A"/>
                </a:solidFill>
                <a:latin typeface="Arial Rounded MT Bold" panose="020F0704030504030204" pitchFamily="34" charset="0"/>
                <a:ea typeface="Geist" pitchFamily="34" charset="-122"/>
                <a:cs typeface="Geist" pitchFamily="34" charset="-120"/>
              </a:rPr>
              <a:t>Commercial Chatbots (Ada[5], WebMD[4]):</a:t>
            </a:r>
            <a:r>
              <a:rPr lang="en-US" sz="2400" dirty="0">
                <a:solidFill>
                  <a:srgbClr val="4B4A4A"/>
                </a:solidFill>
                <a:latin typeface="Arial Rounded MT Bold" panose="020F0704030504030204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2000" b="1" dirty="0">
                <a:solidFill>
                  <a:srgbClr val="4B4A4A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Advanced, complex systems for symptom analysis, often proprietary.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400" dirty="0">
              <a:latin typeface="Arial Rounded MT Bold" panose="020F07040305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03249" y="507315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4B4A4A"/>
                </a:solidFill>
                <a:latin typeface="Arial Rounded MT Bold" panose="020F0704030504030204" pitchFamily="34" charset="0"/>
                <a:ea typeface="Geist" pitchFamily="34" charset="-122"/>
                <a:cs typeface="Geist" pitchFamily="34" charset="-120"/>
              </a:rPr>
              <a:t>Research Prototypes:</a:t>
            </a:r>
            <a:r>
              <a:rPr lang="en-US" sz="2400" dirty="0">
                <a:solidFill>
                  <a:srgbClr val="4B4A4A"/>
                </a:solidFill>
                <a:latin typeface="Arial Rounded MT Bold" panose="020F0704030504030204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2000" b="1" dirty="0">
                <a:solidFill>
                  <a:srgbClr val="4B4A4A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Academic</a:t>
            </a:r>
            <a:r>
              <a:rPr lang="en-US" sz="2400" b="1" dirty="0">
                <a:solidFill>
                  <a:srgbClr val="4B4A4A"/>
                </a:solidFill>
                <a:latin typeface="Arial Rounded MT Bold" panose="020F0704030504030204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2000" b="1" dirty="0">
                <a:solidFill>
                  <a:srgbClr val="4B4A4A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projects that prove ML/NLP effectiveness for specific diseases.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67511" y="292168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Key Technologies: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811394" y="3568071"/>
            <a:ext cx="591575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4B4A4A"/>
                </a:solidFill>
                <a:latin typeface="Arial Rounded MT Bold" panose="020F0704030504030204" pitchFamily="34" charset="0"/>
                <a:ea typeface="Geist" pitchFamily="34" charset="-122"/>
                <a:cs typeface="Geist" pitchFamily="34" charset="-120"/>
              </a:rPr>
              <a:t>Natural Language Processing (NLP):</a:t>
            </a:r>
            <a:r>
              <a:rPr lang="en-US" sz="2400" dirty="0">
                <a:solidFill>
                  <a:srgbClr val="4B4A4A"/>
                </a:solidFill>
                <a:latin typeface="Arial Rounded MT Bold" panose="020F0704030504030204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2000" b="1" dirty="0">
                <a:solidFill>
                  <a:srgbClr val="4B4A4A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To understand user queries and identify key terms (symptoms, duration).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811395" y="5098976"/>
            <a:ext cx="572618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4B4A4A"/>
                </a:solidFill>
                <a:latin typeface="Arial Rounded MT Bold" panose="020F0704030504030204" pitchFamily="34" charset="0"/>
                <a:ea typeface="Geist" pitchFamily="34" charset="-122"/>
                <a:cs typeface="Geist" pitchFamily="34" charset="-120"/>
              </a:rPr>
              <a:t>Machine Learning Models:</a:t>
            </a:r>
            <a:r>
              <a:rPr lang="en-US" sz="2400" dirty="0">
                <a:solidFill>
                  <a:srgbClr val="4B4A4A"/>
                </a:solidFill>
                <a:latin typeface="Arial Rounded MT Bold" panose="020F0704030504030204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2000" b="1" dirty="0">
                <a:solidFill>
                  <a:srgbClr val="4B4A4A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To map symptoms to conditions and provide relevant information.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AAE7B4-3539-550E-1250-07D9C2E4AF4C}"/>
              </a:ext>
            </a:extLst>
          </p:cNvPr>
          <p:cNvSpPr/>
          <p:nvPr/>
        </p:nvSpPr>
        <p:spPr>
          <a:xfrm>
            <a:off x="1005663" y="9547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Comparative Study</a:t>
            </a:r>
            <a:endParaRPr lang="en-US" sz="445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96DA66-EE68-9F31-3715-A42E4D4DE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375883"/>
              </p:ext>
            </p:extLst>
          </p:nvPr>
        </p:nvGraphicFramePr>
        <p:xfrm>
          <a:off x="2291788" y="1932972"/>
          <a:ext cx="10776031" cy="56137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7518">
                  <a:extLst>
                    <a:ext uri="{9D8B030D-6E8A-4147-A177-3AD203B41FA5}">
                      <a16:colId xmlns:a16="http://schemas.microsoft.com/office/drawing/2014/main" val="912143661"/>
                    </a:ext>
                  </a:extLst>
                </a:gridCol>
                <a:gridCol w="1052802">
                  <a:extLst>
                    <a:ext uri="{9D8B030D-6E8A-4147-A177-3AD203B41FA5}">
                      <a16:colId xmlns:a16="http://schemas.microsoft.com/office/drawing/2014/main" val="1160107178"/>
                    </a:ext>
                  </a:extLst>
                </a:gridCol>
                <a:gridCol w="1173157">
                  <a:extLst>
                    <a:ext uri="{9D8B030D-6E8A-4147-A177-3AD203B41FA5}">
                      <a16:colId xmlns:a16="http://schemas.microsoft.com/office/drawing/2014/main" val="1839003673"/>
                    </a:ext>
                  </a:extLst>
                </a:gridCol>
                <a:gridCol w="2137518">
                  <a:extLst>
                    <a:ext uri="{9D8B030D-6E8A-4147-A177-3AD203B41FA5}">
                      <a16:colId xmlns:a16="http://schemas.microsoft.com/office/drawing/2014/main" val="2561277371"/>
                    </a:ext>
                  </a:extLst>
                </a:gridCol>
                <a:gridCol w="2137518">
                  <a:extLst>
                    <a:ext uri="{9D8B030D-6E8A-4147-A177-3AD203B41FA5}">
                      <a16:colId xmlns:a16="http://schemas.microsoft.com/office/drawing/2014/main" val="2182847918"/>
                    </a:ext>
                  </a:extLst>
                </a:gridCol>
                <a:gridCol w="2137518">
                  <a:extLst>
                    <a:ext uri="{9D8B030D-6E8A-4147-A177-3AD203B41FA5}">
                      <a16:colId xmlns:a16="http://schemas.microsoft.com/office/drawing/2014/main" val="3337774433"/>
                    </a:ext>
                  </a:extLst>
                </a:gridCol>
              </a:tblGrid>
              <a:tr h="935571"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Feature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Ada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WebMD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Babylon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MS Health Bot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Cura AI (Proposed)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811054"/>
                  </a:ext>
                </a:extLst>
              </a:tr>
              <a:tr h="935571"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Conversational Chat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Yes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No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Yes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Yes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Yes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677892"/>
                  </a:ext>
                </a:extLst>
              </a:tr>
              <a:tr h="935867"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Basic Remedies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Limited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No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Yes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No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Yes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269801"/>
                  </a:ext>
                </a:extLst>
              </a:tr>
              <a:tr h="935571"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Report Explanation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No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No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No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No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Yes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341122"/>
                  </a:ext>
                </a:extLst>
              </a:tr>
              <a:tr h="935571"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Symptom Tracking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No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No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No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No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Yes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239912"/>
                  </a:ext>
                </a:extLst>
              </a:tr>
              <a:tr h="935571"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Reminder System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No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No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No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No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Yes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949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404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65BD067-73AF-2ED2-5B15-D3557BF3EE30}"/>
              </a:ext>
            </a:extLst>
          </p:cNvPr>
          <p:cNvSpPr/>
          <p:nvPr/>
        </p:nvSpPr>
        <p:spPr>
          <a:xfrm>
            <a:off x="1215341" y="1333088"/>
            <a:ext cx="11612447" cy="6562934"/>
          </a:xfrm>
          <a:prstGeom prst="roundRect">
            <a:avLst/>
          </a:prstGeom>
          <a:solidFill>
            <a:schemeClr val="lt1">
              <a:alpha val="3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1802612" y="496537"/>
            <a:ext cx="5372219" cy="671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Proposed Solution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612" y="1695514"/>
            <a:ext cx="1074420" cy="1289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91821" y="1910303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User Query: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091821" y="2362563"/>
            <a:ext cx="1183719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 asks a question in plain language.</a:t>
            </a:r>
            <a:endParaRPr lang="en-US" sz="2000" b="1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612" y="2984842"/>
            <a:ext cx="1074420" cy="128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091821" y="3199630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NLP Processing: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3091821" y="3651891"/>
            <a:ext cx="1183719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system understands user intent (remedy, log, info) and extracts key terms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(e.g., "headache").</a:t>
            </a:r>
            <a:endParaRPr lang="en-US" sz="2000" b="1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2612" y="4274170"/>
            <a:ext cx="1074420" cy="207597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091821" y="4488958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Action: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3091821" y="4951452"/>
            <a:ext cx="1183719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Remedy: ML model suggests a safe remedy (not medicine).</a:t>
            </a:r>
            <a:endParaRPr lang="en-US" sz="2000" b="1" dirty="0"/>
          </a:p>
        </p:txBody>
      </p:sp>
      <p:sp>
        <p:nvSpPr>
          <p:cNvPr id="12" name="Text 7"/>
          <p:cNvSpPr/>
          <p:nvPr/>
        </p:nvSpPr>
        <p:spPr>
          <a:xfrm>
            <a:off x="3091821" y="5370433"/>
            <a:ext cx="1183719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Tracking: Symptom is logged securely.</a:t>
            </a:r>
            <a:endParaRPr lang="en-US" sz="2000" b="1" dirty="0"/>
          </a:p>
        </p:txBody>
      </p:sp>
      <p:sp>
        <p:nvSpPr>
          <p:cNvPr id="13" name="Text 8"/>
          <p:cNvSpPr/>
          <p:nvPr/>
        </p:nvSpPr>
        <p:spPr>
          <a:xfrm>
            <a:off x="3091821" y="5779948"/>
            <a:ext cx="1183719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Report Scan: Extracts data and ML flags abnormal values.</a:t>
            </a:r>
            <a:endParaRPr lang="en-US" sz="2000" b="1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2612" y="6384850"/>
            <a:ext cx="1074420" cy="12893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091821" y="6564932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Response:</a:t>
            </a:r>
            <a:endParaRPr lang="en-US" sz="2400" b="1" dirty="0"/>
          </a:p>
        </p:txBody>
      </p:sp>
      <p:sp>
        <p:nvSpPr>
          <p:cNvPr id="16" name="Text 10"/>
          <p:cNvSpPr/>
          <p:nvPr/>
        </p:nvSpPr>
        <p:spPr>
          <a:xfrm>
            <a:off x="3091821" y="6997966"/>
            <a:ext cx="1183719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clear, simple answer is given to the user.</a:t>
            </a:r>
            <a:endParaRPr lang="en-US" sz="2000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70B49A-4B64-BE7B-51FE-438125A68082}"/>
              </a:ext>
            </a:extLst>
          </p:cNvPr>
          <p:cNvSpPr txBox="1"/>
          <p:nvPr/>
        </p:nvSpPr>
        <p:spPr>
          <a:xfrm>
            <a:off x="2031357" y="1760309"/>
            <a:ext cx="1056768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 strategy is a scalable web application: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User Interface (UI):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Chat interface that is responsive and clean where the users can chat with the bot.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Backend (API):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API is a minimal API written in Flask (Python) API. It takes the text of the user and transmits it to the NLP/ML module and employs the database to locate the correct answer.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ML/NLP Components: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API is going to utilize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spaCy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as NLP and Scikit-learn as intent classification.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Pytesseract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will be used to extract text in the images of the medical reports.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Database (MySQL):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manual repository of valid data, along with user information (symptom logs, medicine reminders), application of which is necessary to provide the response. 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4F0DF55-0F86-45E7-5F26-57742DC57B82}"/>
              </a:ext>
            </a:extLst>
          </p:cNvPr>
          <p:cNvSpPr/>
          <p:nvPr/>
        </p:nvSpPr>
        <p:spPr>
          <a:xfrm>
            <a:off x="1508976" y="1238490"/>
            <a:ext cx="11612447" cy="5995687"/>
          </a:xfrm>
          <a:prstGeom prst="roundRect">
            <a:avLst/>
          </a:prstGeom>
          <a:solidFill>
            <a:schemeClr val="lt1">
              <a:alpha val="3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568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B5CC38-0BD9-7C80-C6FD-483CBB3B5FE0}"/>
              </a:ext>
            </a:extLst>
          </p:cNvPr>
          <p:cNvSpPr/>
          <p:nvPr/>
        </p:nvSpPr>
        <p:spPr>
          <a:xfrm>
            <a:off x="1176453" y="1540230"/>
            <a:ext cx="12064985" cy="6021659"/>
          </a:xfrm>
          <a:prstGeom prst="roundRect">
            <a:avLst/>
          </a:prstGeom>
          <a:solidFill>
            <a:schemeClr val="lt1">
              <a:alpha val="3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4BAB71-985C-CBED-D025-FD558002B341}"/>
              </a:ext>
            </a:extLst>
          </p:cNvPr>
          <p:cNvSpPr txBox="1"/>
          <p:nvPr/>
        </p:nvSpPr>
        <p:spPr>
          <a:xfrm>
            <a:off x="1748133" y="616163"/>
            <a:ext cx="49485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rgbClr val="3A6D5D"/>
                </a:solidFill>
                <a:latin typeface="Noto Serif SC Bold"/>
              </a:rPr>
              <a:t>Proposed Tech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772EF-F900-3BED-EA72-78A51A72FE6B}"/>
              </a:ext>
            </a:extLst>
          </p:cNvPr>
          <p:cNvSpPr txBox="1"/>
          <p:nvPr/>
        </p:nvSpPr>
        <p:spPr>
          <a:xfrm>
            <a:off x="1748133" y="1873404"/>
            <a:ext cx="1090589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Frontend (User Interface)</a:t>
            </a:r>
          </a:p>
          <a:p>
            <a:r>
              <a:rPr lang="en-US" b="1" dirty="0"/>
              <a:t>React.js:</a:t>
            </a:r>
            <a:r>
              <a:rPr lang="en-US" dirty="0"/>
              <a:t> A JavaScript library used to build a responsive, and interactive user interface. </a:t>
            </a:r>
          </a:p>
          <a:p>
            <a:endParaRPr lang="en-US" dirty="0"/>
          </a:p>
          <a:p>
            <a:r>
              <a:rPr lang="en-US" b="1" dirty="0"/>
              <a:t>Backend (Server &amp; Logic)</a:t>
            </a:r>
          </a:p>
          <a:p>
            <a:r>
              <a:rPr lang="en-US" b="1" dirty="0"/>
              <a:t>Flask (Python):</a:t>
            </a:r>
            <a:r>
              <a:rPr lang="en-US" dirty="0"/>
              <a:t> A lightweight web framework used to create a powerful API. This API will serve as the brain of the application, connecting the frontend to the database and machine learning models.</a:t>
            </a:r>
          </a:p>
          <a:p>
            <a:endParaRPr lang="en-US" dirty="0"/>
          </a:p>
          <a:p>
            <a:r>
              <a:rPr lang="en-US" b="1" dirty="0"/>
              <a:t>Database (Data Storage)</a:t>
            </a:r>
          </a:p>
          <a:p>
            <a:r>
              <a:rPr lang="en-US" b="1" dirty="0"/>
              <a:t>MySQL:</a:t>
            </a:r>
            <a:r>
              <a:rPr lang="en-US" dirty="0"/>
              <a:t> A reliable and widely-used relational database to securely store all essential data, including user profiles, symptom logs, and chat history.</a:t>
            </a:r>
          </a:p>
          <a:p>
            <a:endParaRPr lang="en-US" dirty="0"/>
          </a:p>
          <a:p>
            <a:r>
              <a:rPr lang="en-US" b="1"/>
              <a:t>ML </a:t>
            </a:r>
            <a:r>
              <a:rPr lang="en-US" b="1" dirty="0"/>
              <a:t>&amp; NLP Libraries (Python)</a:t>
            </a:r>
          </a:p>
          <a:p>
            <a:r>
              <a:rPr lang="en-US" b="1" dirty="0"/>
              <a:t>Scikit-learn:</a:t>
            </a:r>
            <a:r>
              <a:rPr lang="en-US" dirty="0"/>
              <a:t> For building the core machine learning models that will map user-reported symptoms to relevant health information and safe remedies.</a:t>
            </a:r>
          </a:p>
          <a:p>
            <a:r>
              <a:rPr lang="en-US" b="1" dirty="0" err="1"/>
              <a:t>spaCy</a:t>
            </a:r>
            <a:r>
              <a:rPr lang="en-US" b="1" dirty="0"/>
              <a:t>:</a:t>
            </a:r>
            <a:r>
              <a:rPr lang="en-US" dirty="0"/>
              <a:t> For advanced Natural Language Processing (NLP) to accurately understand user queries, identify user intent, and extract key entities like "headache" or "fever" from sentences.</a:t>
            </a:r>
          </a:p>
          <a:p>
            <a:r>
              <a:rPr lang="en-US" b="1" dirty="0" err="1"/>
              <a:t>Pytesseract</a:t>
            </a:r>
            <a:r>
              <a:rPr lang="en-US" b="1" dirty="0"/>
              <a:t> (OCR):</a:t>
            </a:r>
            <a:r>
              <a:rPr lang="en-US" dirty="0"/>
              <a:t> To extract text from uploaded images of medical reports, allowing the system to analyze the data within them.</a:t>
            </a:r>
          </a:p>
        </p:txBody>
      </p:sp>
    </p:spTree>
    <p:extLst>
      <p:ext uri="{BB962C8B-B14F-4D97-AF65-F5344CB8AC3E}">
        <p14:creationId xmlns:p14="http://schemas.microsoft.com/office/powerpoint/2010/main" val="3194025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88941F-C0C3-65E6-8C6D-BA809AE2CDEE}"/>
              </a:ext>
            </a:extLst>
          </p:cNvPr>
          <p:cNvSpPr txBox="1"/>
          <p:nvPr/>
        </p:nvSpPr>
        <p:spPr>
          <a:xfrm>
            <a:off x="2471195" y="1846071"/>
            <a:ext cx="968801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Semester - 3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Problem Identification/Planning: Full literature review, comparative study of the existing tools and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finalising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the approach of a problem. 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Semester - 4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Prototype and UI Build the chat UI, configure the Flask API, develop the database, and train the first SVM intent classifier.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Semester - 5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Develop MySQL database and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spaCy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NER model. Advanced Training and Report Analysis (OCR) -Increase the knowledge base, retrains the models using a larger dataset to improve accuracy. 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Semester - 6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Implement the final user-centric features: the symptom logging module (with data visualization) and the medicine reminder system. Add a directory of local hospitals/doctors. Conduct extensive user testing to find bugs and get feedback. Refine the UI/UX based on feedback. Finalize all documentation.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6E8943-BE3A-669C-12DB-A834F6D6BC8B}"/>
              </a:ext>
            </a:extLst>
          </p:cNvPr>
          <p:cNvSpPr/>
          <p:nvPr/>
        </p:nvSpPr>
        <p:spPr>
          <a:xfrm>
            <a:off x="1868746" y="1516566"/>
            <a:ext cx="11053824" cy="6156489"/>
          </a:xfrm>
          <a:prstGeom prst="roundRect">
            <a:avLst/>
          </a:prstGeom>
          <a:solidFill>
            <a:schemeClr val="lt1">
              <a:alpha val="3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71F1D2-3425-2502-DF4C-402D8D88A148}"/>
              </a:ext>
            </a:extLst>
          </p:cNvPr>
          <p:cNvSpPr txBox="1"/>
          <p:nvPr/>
        </p:nvSpPr>
        <p:spPr>
          <a:xfrm>
            <a:off x="2471195" y="599425"/>
            <a:ext cx="7315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3A6D5D"/>
                </a:solidFill>
                <a:latin typeface="Noto Serif SC Bold"/>
              </a:rPr>
              <a:t>Project Plan</a:t>
            </a:r>
          </a:p>
        </p:txBody>
      </p:sp>
    </p:spTree>
    <p:extLst>
      <p:ext uri="{BB962C8B-B14F-4D97-AF65-F5344CB8AC3E}">
        <p14:creationId xmlns:p14="http://schemas.microsoft.com/office/powerpoint/2010/main" val="4262435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F482E3C-7370-28CA-F0CA-D19C8598C96B}"/>
              </a:ext>
            </a:extLst>
          </p:cNvPr>
          <p:cNvSpPr/>
          <p:nvPr/>
        </p:nvSpPr>
        <p:spPr>
          <a:xfrm>
            <a:off x="908612" y="2029004"/>
            <a:ext cx="13119904" cy="4638014"/>
          </a:xfrm>
          <a:prstGeom prst="roundRect">
            <a:avLst/>
          </a:prstGeom>
          <a:solidFill>
            <a:schemeClr val="lt1">
              <a:alpha val="3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0"/>
          <p:cNvSpPr/>
          <p:nvPr/>
        </p:nvSpPr>
        <p:spPr>
          <a:xfrm>
            <a:off x="1531084" y="107175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531144" y="231261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1531144" y="2667653"/>
            <a:ext cx="5670590" cy="45719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5" name="Text 3"/>
          <p:cNvSpPr/>
          <p:nvPr/>
        </p:nvSpPr>
        <p:spPr>
          <a:xfrm>
            <a:off x="1644551" y="2863829"/>
            <a:ext cx="28969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Understand Queries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4551" y="335153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Develop an NLP module to accurately understand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 health questions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165902" y="231261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165903" y="2667652"/>
            <a:ext cx="5317296" cy="45719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9" name="Text 7"/>
          <p:cNvSpPr/>
          <p:nvPr/>
        </p:nvSpPr>
        <p:spPr>
          <a:xfrm>
            <a:off x="8279309" y="2841962"/>
            <a:ext cx="29572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Provide Information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79309" y="333238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 an ML model to suggest safe remedies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and verified health information.</a:t>
            </a:r>
            <a:endParaRPr lang="en-US" sz="2000" b="1" dirty="0"/>
          </a:p>
        </p:txBody>
      </p:sp>
      <p:sp>
        <p:nvSpPr>
          <p:cNvPr id="11" name="Text 9"/>
          <p:cNvSpPr/>
          <p:nvPr/>
        </p:nvSpPr>
        <p:spPr>
          <a:xfrm>
            <a:off x="1531144" y="445502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 flipV="1">
            <a:off x="1531084" y="4849901"/>
            <a:ext cx="5670650" cy="45719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3" name="Text 11"/>
          <p:cNvSpPr/>
          <p:nvPr/>
        </p:nvSpPr>
        <p:spPr>
          <a:xfrm>
            <a:off x="1644551" y="50064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Track Symptoms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44551" y="547161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Implement a secure feature for logging symptom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history.</a:t>
            </a:r>
            <a:endParaRPr lang="en-US" sz="2000" b="1" dirty="0"/>
          </a:p>
        </p:txBody>
      </p:sp>
      <p:sp>
        <p:nvSpPr>
          <p:cNvPr id="15" name="Text 13"/>
          <p:cNvSpPr/>
          <p:nvPr/>
        </p:nvSpPr>
        <p:spPr>
          <a:xfrm>
            <a:off x="8165902" y="445502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165902" y="4810064"/>
            <a:ext cx="5317297" cy="45719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7" name="Text 15"/>
          <p:cNvSpPr/>
          <p:nvPr/>
        </p:nvSpPr>
        <p:spPr>
          <a:xfrm>
            <a:off x="8279309" y="49843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Simplify Reports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79308" y="5474791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Design a prototype to analyze medical reports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and simplify results.</a:t>
            </a:r>
            <a:endParaRPr lang="en-US" sz="2000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10570A-D3DB-CE00-A4FA-EF485BDA1C61}"/>
              </a:ext>
            </a:extLst>
          </p:cNvPr>
          <p:cNvSpPr txBox="1"/>
          <p:nvPr/>
        </p:nvSpPr>
        <p:spPr>
          <a:xfrm>
            <a:off x="2615879" y="1907035"/>
            <a:ext cx="7315200" cy="4127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u="none" strike="noStrike" kern="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Literature review.</a:t>
            </a: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Comparative study of the existing tools.</a:t>
            </a: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Finalised the approach to the problem.  </a:t>
            </a: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Developed basic prototype</a:t>
            </a: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2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Learning ML:</a:t>
            </a:r>
            <a:r>
              <a:rPr lang="en-IN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Libraries like NumPy, </a:t>
            </a:r>
            <a:r>
              <a:rPr lang="en-IN" sz="20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MatPlotLib</a:t>
            </a:r>
            <a:r>
              <a:rPr lang="en-IN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and Pandas</a:t>
            </a:r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en-IN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Scikit-learn, </a:t>
            </a:r>
            <a:r>
              <a:rPr lang="en-IN" sz="20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Pytesseract</a:t>
            </a:r>
            <a:r>
              <a:rPr lang="en-IN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and </a:t>
            </a:r>
            <a:r>
              <a:rPr lang="en-IN" sz="20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SpaCy</a:t>
            </a:r>
            <a:r>
              <a:rPr lang="en-IN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AI/ML concepts </a:t>
            </a:r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like supervised/unsupervised learning, NLP, Neural Networks, etc.</a:t>
            </a:r>
            <a:endParaRPr lang="en-IN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009C2A-E861-C9AD-BBEC-190A44C25689}"/>
              </a:ext>
            </a:extLst>
          </p:cNvPr>
          <p:cNvSpPr/>
          <p:nvPr/>
        </p:nvSpPr>
        <p:spPr>
          <a:xfrm>
            <a:off x="1848843" y="1907035"/>
            <a:ext cx="9942654" cy="4673349"/>
          </a:xfrm>
          <a:prstGeom prst="roundRect">
            <a:avLst/>
          </a:prstGeom>
          <a:solidFill>
            <a:schemeClr val="lt1">
              <a:alpha val="3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E142A5-15B9-E2FD-034A-CBE8351996F7}"/>
              </a:ext>
            </a:extLst>
          </p:cNvPr>
          <p:cNvSpPr txBox="1"/>
          <p:nvPr/>
        </p:nvSpPr>
        <p:spPr>
          <a:xfrm>
            <a:off x="2615879" y="886910"/>
            <a:ext cx="40759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rgbClr val="3A6D5D"/>
                </a:solidFill>
                <a:latin typeface="Noto Serif SC Bold"/>
              </a:rPr>
              <a:t>Current Progress</a:t>
            </a:r>
          </a:p>
        </p:txBody>
      </p:sp>
    </p:spTree>
    <p:extLst>
      <p:ext uri="{BB962C8B-B14F-4D97-AF65-F5344CB8AC3E}">
        <p14:creationId xmlns:p14="http://schemas.microsoft.com/office/powerpoint/2010/main" val="3446985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CB690F-B9A4-61C9-2949-9C4222ED8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47" y="717412"/>
            <a:ext cx="14234905" cy="679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888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076B76-222A-F636-0C24-D0CB4E487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89" y="718530"/>
            <a:ext cx="14230222" cy="679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466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7193FF-D93B-80DA-D788-346AB9203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61" y="716966"/>
            <a:ext cx="14174878" cy="679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467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9CF3D3-2F71-79BF-9654-3E97AE349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27" y="742068"/>
            <a:ext cx="14186946" cy="674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886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DD881ED-6A33-D782-1E43-899724152D83}"/>
              </a:ext>
            </a:extLst>
          </p:cNvPr>
          <p:cNvSpPr/>
          <p:nvPr/>
        </p:nvSpPr>
        <p:spPr>
          <a:xfrm>
            <a:off x="6099858" y="2750197"/>
            <a:ext cx="8194876" cy="4386583"/>
          </a:xfrm>
          <a:prstGeom prst="roundRect">
            <a:avLst/>
          </a:prstGeom>
          <a:solidFill>
            <a:schemeClr val="lt1">
              <a:alpha val="3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94463" y="1752609"/>
            <a:ext cx="57315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A6D5D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Future Applications</a:t>
            </a:r>
            <a:endParaRPr lang="en-US" sz="4450" dirty="0">
              <a:solidFill>
                <a:srgbClr val="3A6D5D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494463" y="306871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4B4A4A"/>
                </a:solidFill>
                <a:latin typeface="Arial Black" panose="020B0A04020102020204" pitchFamily="34" charset="0"/>
                <a:ea typeface="Geist" pitchFamily="34" charset="-122"/>
                <a:cs typeface="Geist" pitchFamily="34" charset="-120"/>
              </a:rPr>
              <a:t>Expanded Report Analysis: </a:t>
            </a:r>
            <a:r>
              <a:rPr lang="en-US" sz="20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Analyze more report types (urine, scans) and provide summaries.</a:t>
            </a:r>
            <a:endParaRPr lang="en-US" sz="2000" b="1" dirty="0"/>
          </a:p>
        </p:txBody>
      </p:sp>
      <p:sp>
        <p:nvSpPr>
          <p:cNvPr id="5" name="Text 2"/>
          <p:cNvSpPr/>
          <p:nvPr/>
        </p:nvSpPr>
        <p:spPr>
          <a:xfrm>
            <a:off x="6494463" y="387381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4B4A4A"/>
                </a:solidFill>
                <a:latin typeface="Arial Black" panose="020B0A04020102020204" pitchFamily="34" charset="0"/>
                <a:ea typeface="Geist" pitchFamily="34" charset="-122"/>
                <a:cs typeface="Geist" pitchFamily="34" charset="-120"/>
              </a:rPr>
              <a:t>Medication Reminders: </a:t>
            </a:r>
            <a:r>
              <a:rPr lang="en-US" sz="20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Help users stick to their prescription schedules.</a:t>
            </a:r>
            <a:endParaRPr lang="en-US" sz="2000" b="1" dirty="0"/>
          </a:p>
        </p:txBody>
      </p:sp>
      <p:sp>
        <p:nvSpPr>
          <p:cNvPr id="6" name="Text 3"/>
          <p:cNvSpPr/>
          <p:nvPr/>
        </p:nvSpPr>
        <p:spPr>
          <a:xfrm>
            <a:off x="6494463" y="467891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4B4A4A"/>
                </a:solidFill>
                <a:latin typeface="Arial Black" panose="020B0A04020102020204" pitchFamily="34" charset="0"/>
                <a:ea typeface="Geist" pitchFamily="34" charset="-122"/>
                <a:cs typeface="Geist" pitchFamily="34" charset="-120"/>
              </a:rPr>
              <a:t>Mental Health Support: </a:t>
            </a:r>
            <a:r>
              <a:rPr lang="en-US" sz="20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Offer initial support and resources for mental distress.</a:t>
            </a:r>
            <a:endParaRPr lang="en-US" sz="2000" b="1" dirty="0"/>
          </a:p>
        </p:txBody>
      </p:sp>
      <p:sp>
        <p:nvSpPr>
          <p:cNvPr id="7" name="Text 4"/>
          <p:cNvSpPr/>
          <p:nvPr/>
        </p:nvSpPr>
        <p:spPr>
          <a:xfrm>
            <a:off x="6494463" y="548401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4B4A4A"/>
                </a:solidFill>
                <a:latin typeface="Arial Black" panose="020B0A04020102020204" pitchFamily="34" charset="0"/>
                <a:ea typeface="Geist" pitchFamily="34" charset="-122"/>
                <a:cs typeface="Geist" pitchFamily="34" charset="-120"/>
              </a:rPr>
              <a:t>Appointment Booking:</a:t>
            </a:r>
            <a:r>
              <a:rPr lang="en-US" sz="2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20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Integrate with clinics to assist with scheduling.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4B4A4A"/>
                </a:solidFill>
                <a:latin typeface="Arial Black" panose="020B0A04020102020204" pitchFamily="34" charset="0"/>
                <a:ea typeface="Geist" pitchFamily="34" charset="-122"/>
                <a:cs typeface="Geist" pitchFamily="34" charset="-120"/>
              </a:rPr>
              <a:t>Location:</a:t>
            </a:r>
            <a:r>
              <a:rPr lang="en-US" sz="20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Use location to find nearby hospital/doctor details.</a:t>
            </a:r>
            <a:endParaRPr lang="en-US" sz="2000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63B32D-93FC-3956-06FD-38C30C5E84C6}"/>
              </a:ext>
            </a:extLst>
          </p:cNvPr>
          <p:cNvSpPr/>
          <p:nvPr/>
        </p:nvSpPr>
        <p:spPr>
          <a:xfrm>
            <a:off x="897037" y="2048571"/>
            <a:ext cx="12836325" cy="4631009"/>
          </a:xfrm>
          <a:prstGeom prst="roundRect">
            <a:avLst/>
          </a:prstGeom>
          <a:solidFill>
            <a:schemeClr val="lt1">
              <a:alpha val="3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1304419" y="1040318"/>
            <a:ext cx="52690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References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304421" y="2643423"/>
            <a:ext cx="1211932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[1] L.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Athota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et al.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"Chatbot for healthcare system using artificial intelligence," in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2020 8th International Conference on Reliability, Infocom Technologies and Optimization (ICRITO)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2020.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[2] P. Amiri and C. Sik Lanyi, "A review of the applications of chatbots in medicine,"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Informatics for Health and Social Care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vol. 47, no. 4, pp. 461-474, 2022.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[3] World Health Organization, "World Health Organization," [Online]. Available: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https://www.who.int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[4] WebMD, "WebMD," [Online]. Available: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https://www.webmd.com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[5]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Ada Health. Available: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https://ada.com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2850"/>
              </a:lnSpc>
              <a:buSzPct val="100000"/>
            </a:pPr>
            <a:endParaRPr lang="en-US" sz="1750" b="1" dirty="0"/>
          </a:p>
        </p:txBody>
      </p:sp>
      <p:sp>
        <p:nvSpPr>
          <p:cNvPr id="4" name="Text 2"/>
          <p:cNvSpPr/>
          <p:nvPr/>
        </p:nvSpPr>
        <p:spPr>
          <a:xfrm>
            <a:off x="1304421" y="3927177"/>
            <a:ext cx="121193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b="1" dirty="0"/>
          </a:p>
        </p:txBody>
      </p:sp>
      <p:sp>
        <p:nvSpPr>
          <p:cNvPr id="5" name="Text 3"/>
          <p:cNvSpPr/>
          <p:nvPr/>
        </p:nvSpPr>
        <p:spPr>
          <a:xfrm>
            <a:off x="1304419" y="4757336"/>
            <a:ext cx="121193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b="1" dirty="0"/>
          </a:p>
        </p:txBody>
      </p:sp>
      <p:sp>
        <p:nvSpPr>
          <p:cNvPr id="6" name="Text 4"/>
          <p:cNvSpPr/>
          <p:nvPr/>
        </p:nvSpPr>
        <p:spPr>
          <a:xfrm>
            <a:off x="1304420" y="5138691"/>
            <a:ext cx="121193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34833" y="3405902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Thank You</a:t>
            </a:r>
            <a:endParaRPr lang="en-US" sz="8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1698BD4-7456-4E48-AF0D-3C5F0D6D4CF7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273</TotalTime>
  <Words>1301</Words>
  <Application>Microsoft Office PowerPoint</Application>
  <PresentationFormat>Custom</PresentationFormat>
  <Paragraphs>185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Noto Serif SC Bold</vt:lpstr>
      <vt:lpstr>Symbol</vt:lpstr>
      <vt:lpstr>Geist</vt:lpstr>
      <vt:lpstr>Noto Serif SC Light</vt:lpstr>
      <vt:lpstr>Century Gothic</vt:lpstr>
      <vt:lpstr>Calibri Light</vt:lpstr>
      <vt:lpstr>Wingdings 3</vt:lpstr>
      <vt:lpstr>Arial Rounded MT Bold</vt:lpstr>
      <vt:lpstr>Franklin Gothic Demi</vt:lpstr>
      <vt:lpstr>Arial</vt:lpstr>
      <vt:lpstr>Calibri</vt:lpstr>
      <vt:lpstr>Arial Black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Arnav Pawar</dc:creator>
  <cp:lastModifiedBy>Arnav Pawar</cp:lastModifiedBy>
  <cp:revision>16</cp:revision>
  <dcterms:created xsi:type="dcterms:W3CDTF">2025-10-09T01:36:05Z</dcterms:created>
  <dcterms:modified xsi:type="dcterms:W3CDTF">2026-02-15T17:57:06Z</dcterms:modified>
</cp:coreProperties>
</file>